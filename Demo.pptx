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75"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748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(0:00 – 0:20)  ← quick, ~20 seconds
"This is our embedded AI final project — a smart desk lighting system.
A camera on the XIAO ESP32S3 Sense watches your desk, runs a lightweight image
classification model on-chip, and uses the result to control two LED channels via PWM.
Four scenes, four light modes. All on-device — no cloud."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(0:20 – 0:50)  ← ~30 seconds
"The model is MobileNetV2 at 96 by 96, width factor 0.35 — chosen because it's
small enough to run inference on the ESP32S3 while still being accurate enough for
a fixed-view desk scene.
We collected about 50 images per class directly from the XIAO camera,
at the same angle used for deployment. Labels map to lighting modes, not objects.
One thing worth mentioning: the ‘empty’ class includes a desk that still has
a keyboard and mouse on it — just no active user. This teaches the model
that empty means no one working, not a bare 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(0:50 – 1:30)  ← ~40 seconds
"Our original plan was to detect hand-object interactions — hand on keyboard means
computer mode, hand on paper means reading mode.
But this turned out to be too hard. The camera resolution is limited.
The model has to be small. Our dataset is small.
And the biggest problem: hands often rest near the keyboard even when you're not typing,
so 'hand near keyboard' wasn't a reliable signal.
So we simplified: classify the whole scene. No hand tracking, no bounding boxes.
Just four scene categories that map directly to lighting modes.
This is more robust and still useful."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(1:30 – 3:00)
(1:30 – 2:00 — Results, ~30 seconds)
"The model achieved 93.8% accuracy on the validation set.
Computer and empty both hit 100% — those scenes are visually very distinct.
The only confusion is ipad getting misclassified as phone 18% of the time.
That makes sense — both are small devices laying on the desk, and at 96 by 96 resolution
they can look quite similar. Despite that, the weighted F1 is 0.94 and ROC AUC is 1.0."
(2:00 – 3:00 — Live demo, full 1 minute — go slowly, let the system speak)
"Now the live demo. XIAO on the desk, two LED channels.
[clear desk] — empty — lights off.
[sit at keyboard] — computer — cool white on, 250 PWM.
[place iPad] — ipad — both channels at 250, bright.
[put phone down] — phone — cool off, warm on at 250.
Everything runs on the chip. Serial output shows the label in real time."
──────────────────────────────────────────────────────────────
UPDATED 3-MINUTE VIDEO SCRIPT
──────────────────────────────────────────────────────────────
[0:00 - 0:20]  Overview  (fast)
"Smart desk lighting system. Camera on XIAO ESP32S3 Sense watches your desk,
classifies the scene into one of four categories, and sets the light automatically.
Computer, empty, ipad, phone. All on-device, no cloud."
[0:20 - 0:50]  Model &amp; Data  (steady)
"The model is MobileNetV2 at 96 by 96, width 0.35.
Small enough to run on the ESP32S3, accurate enough for a fixed-view desk scene.
About 50 images per class, captured from the same camera at the same angle.
Labels match lighting modes, not object identity."
[0:50 - 1:30]  Design Challenge  (steady)
"Originally we wanted to detect hand-object interactions.
Hand on keyboard means computer mode, hand on book means reading.
But it was too hard: low resolution, small model, small dataset.
And hands rest near the keyboard even when you're not typing.
So we simplified to full-scene classification. More reliable, cleaner labels."
[1:30 - 2:00]  Training Results  (steady)
"93.8% accuracy on the validation set.
Computer and empty both scored perfect F1. The only confusion is ipad vs phone,
18% of ipad samples get classified as phone. Both are small devices on the desk,
and at 96 by 96 they look similar. Weighted F1 is 0.94, ROC AUC is 1.0."
[2:00 - 3:00]  Live Demo  (slow down, 1 full minute)
"Live system. XIAO on the desk, two LED channels.
[clear desk] empty - off.
[sit at keyboard] computer - cool white on.
[place iPad] ipad - both channels bright.
[put phone] phone - warm light only.
All on-chip. Watch the serial output show the prediction each frame."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Text 0"/>
          <p:cNvSpPr/>
          <p:nvPr/>
        </p:nvSpPr>
        <p:spPr>
          <a:xfrm>
            <a:off x="457200" y="347472"/>
            <a:ext cx="8229600" cy="7772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Smart Desk Lighting System</a:t>
            </a:r>
            <a:endParaRPr lang="en-US" sz="4000" dirty="0"/>
          </a:p>
        </p:txBody>
      </p:sp>
      <p:sp>
        <p:nvSpPr>
          <p:cNvPr id="3" name="Text 1"/>
          <p:cNvSpPr/>
          <p:nvPr/>
        </p:nvSpPr>
        <p:spPr>
          <a:xfrm>
            <a:off x="457200" y="1078992"/>
            <a:ext cx="8229600" cy="347472"/>
          </a:xfrm>
          <a:prstGeom prst="rect">
            <a:avLst/>
          </a:prstGeom>
          <a:noFill/>
          <a:ln/>
        </p:spPr>
        <p:txBody>
          <a:bodyPr wrap="square" rtlCol="0" anchor="ctr"/>
          <a:lstStyle/>
          <a:p>
            <a:pPr marL="0" indent="0" algn="ctr">
              <a:buNone/>
            </a:pPr>
            <a:r>
              <a:rPr lang="en-US" sz="1500" dirty="0">
                <a:solidFill>
                  <a:srgbClr val="94A3B8"/>
                </a:solidFill>
                <a:latin typeface="Calibri" pitchFamily="34" charset="0"/>
                <a:ea typeface="Calibri" pitchFamily="34" charset="-122"/>
                <a:cs typeface="Calibri" pitchFamily="34" charset="-120"/>
              </a:rPr>
              <a:t>Embedded AI Final Project  ·  XIAO ESP32S3 Sense</a:t>
            </a:r>
            <a:endParaRPr lang="en-US" sz="1500" dirty="0"/>
          </a:p>
        </p:txBody>
      </p:sp>
      <p:sp>
        <p:nvSpPr>
          <p:cNvPr id="4" name="Shape 2"/>
          <p:cNvSpPr/>
          <p:nvPr/>
        </p:nvSpPr>
        <p:spPr>
          <a:xfrm>
            <a:off x="777240" y="1627632"/>
            <a:ext cx="1691640" cy="914400"/>
          </a:xfrm>
          <a:prstGeom prst="rect">
            <a:avLst/>
          </a:prstGeom>
          <a:solidFill>
            <a:srgbClr val="0369A1"/>
          </a:solidFill>
          <a:ln w="12700">
            <a:solidFill>
              <a:srgbClr val="0369A1"/>
            </a:solidFill>
            <a:prstDash val="solid"/>
          </a:ln>
        </p:spPr>
      </p:sp>
      <p:sp>
        <p:nvSpPr>
          <p:cNvPr id="5" name="Text 3"/>
          <p:cNvSpPr/>
          <p:nvPr/>
        </p:nvSpPr>
        <p:spPr>
          <a:xfrm>
            <a:off x="777240" y="1627632"/>
            <a:ext cx="16916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Camera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Capture</a:t>
            </a:r>
            <a:endParaRPr lang="en-US" sz="1300" dirty="0"/>
          </a:p>
        </p:txBody>
      </p:sp>
      <p:sp>
        <p:nvSpPr>
          <p:cNvPr id="6" name="Shape 4"/>
          <p:cNvSpPr/>
          <p:nvPr/>
        </p:nvSpPr>
        <p:spPr>
          <a:xfrm>
            <a:off x="2468880" y="2084832"/>
            <a:ext cx="274320" cy="0"/>
          </a:xfrm>
          <a:prstGeom prst="line">
            <a:avLst/>
          </a:prstGeom>
          <a:noFill/>
          <a:ln w="25400">
            <a:solidFill>
              <a:srgbClr val="64748B"/>
            </a:solidFill>
            <a:prstDash val="solid"/>
          </a:ln>
        </p:spPr>
      </p:sp>
      <p:sp>
        <p:nvSpPr>
          <p:cNvPr id="7" name="Text 5"/>
          <p:cNvSpPr/>
          <p:nvPr/>
        </p:nvSpPr>
        <p:spPr>
          <a:xfrm>
            <a:off x="2578608" y="1956816"/>
            <a:ext cx="182880" cy="256032"/>
          </a:xfrm>
          <a:prstGeom prst="rect">
            <a:avLst/>
          </a:prstGeom>
          <a:noFill/>
          <a:ln/>
        </p:spPr>
        <p:txBody>
          <a:bodyPr wrap="square" lIns="0" tIns="0" rIns="0" bIns="0" rtlCol="0" anchor="ctr"/>
          <a:lstStyle/>
          <a:p>
            <a:pPr marL="0" indent="0" algn="ctr">
              <a:buNone/>
            </a:pPr>
            <a:r>
              <a:rPr lang="en-US" sz="900" dirty="0">
                <a:solidFill>
                  <a:srgbClr val="64748B"/>
                </a:solidFill>
              </a:rPr>
              <a:t>▶</a:t>
            </a:r>
            <a:endParaRPr lang="en-US" sz="900" dirty="0"/>
          </a:p>
        </p:txBody>
      </p:sp>
      <p:sp>
        <p:nvSpPr>
          <p:cNvPr id="8" name="Shape 6"/>
          <p:cNvSpPr/>
          <p:nvPr/>
        </p:nvSpPr>
        <p:spPr>
          <a:xfrm>
            <a:off x="2743200" y="1627632"/>
            <a:ext cx="1691640" cy="914400"/>
          </a:xfrm>
          <a:prstGeom prst="rect">
            <a:avLst/>
          </a:prstGeom>
          <a:solidFill>
            <a:srgbClr val="0891B2"/>
          </a:solidFill>
          <a:ln w="12700">
            <a:solidFill>
              <a:srgbClr val="0891B2"/>
            </a:solidFill>
            <a:prstDash val="solid"/>
          </a:ln>
        </p:spPr>
      </p:sp>
      <p:sp>
        <p:nvSpPr>
          <p:cNvPr id="9" name="Text 7"/>
          <p:cNvSpPr/>
          <p:nvPr/>
        </p:nvSpPr>
        <p:spPr>
          <a:xfrm>
            <a:off x="2743200" y="1627632"/>
            <a:ext cx="16916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MobileNetV2</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On-Device</a:t>
            </a:r>
            <a:endParaRPr lang="en-US" sz="1300" dirty="0"/>
          </a:p>
        </p:txBody>
      </p:sp>
      <p:sp>
        <p:nvSpPr>
          <p:cNvPr id="10" name="Shape 8"/>
          <p:cNvSpPr/>
          <p:nvPr/>
        </p:nvSpPr>
        <p:spPr>
          <a:xfrm>
            <a:off x="4434840" y="2084832"/>
            <a:ext cx="274320" cy="0"/>
          </a:xfrm>
          <a:prstGeom prst="line">
            <a:avLst/>
          </a:prstGeom>
          <a:noFill/>
          <a:ln w="25400">
            <a:solidFill>
              <a:srgbClr val="64748B"/>
            </a:solidFill>
            <a:prstDash val="solid"/>
          </a:ln>
        </p:spPr>
      </p:sp>
      <p:sp>
        <p:nvSpPr>
          <p:cNvPr id="11" name="Text 9"/>
          <p:cNvSpPr/>
          <p:nvPr/>
        </p:nvSpPr>
        <p:spPr>
          <a:xfrm>
            <a:off x="4544568" y="1956816"/>
            <a:ext cx="182880" cy="256032"/>
          </a:xfrm>
          <a:prstGeom prst="rect">
            <a:avLst/>
          </a:prstGeom>
          <a:noFill/>
          <a:ln/>
        </p:spPr>
        <p:txBody>
          <a:bodyPr wrap="square" lIns="0" tIns="0" rIns="0" bIns="0" rtlCol="0" anchor="ctr"/>
          <a:lstStyle/>
          <a:p>
            <a:pPr marL="0" indent="0" algn="ctr">
              <a:buNone/>
            </a:pPr>
            <a:r>
              <a:rPr lang="en-US" sz="900" dirty="0">
                <a:solidFill>
                  <a:srgbClr val="64748B"/>
                </a:solidFill>
              </a:rPr>
              <a:t>▶</a:t>
            </a:r>
            <a:endParaRPr lang="en-US" sz="900" dirty="0"/>
          </a:p>
        </p:txBody>
      </p:sp>
      <p:sp>
        <p:nvSpPr>
          <p:cNvPr id="12" name="Shape 10"/>
          <p:cNvSpPr/>
          <p:nvPr/>
        </p:nvSpPr>
        <p:spPr>
          <a:xfrm>
            <a:off x="4709160" y="1627632"/>
            <a:ext cx="1691640" cy="914400"/>
          </a:xfrm>
          <a:prstGeom prst="rect">
            <a:avLst/>
          </a:prstGeom>
          <a:solidFill>
            <a:srgbClr val="0D9488"/>
          </a:solidFill>
          <a:ln w="12700">
            <a:solidFill>
              <a:srgbClr val="0D9488"/>
            </a:solidFill>
            <a:prstDash val="solid"/>
          </a:ln>
        </p:spPr>
      </p:sp>
      <p:sp>
        <p:nvSpPr>
          <p:cNvPr id="13" name="Text 11"/>
          <p:cNvSpPr/>
          <p:nvPr/>
        </p:nvSpPr>
        <p:spPr>
          <a:xfrm>
            <a:off x="4709160" y="1627632"/>
            <a:ext cx="16916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Class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Prediction</a:t>
            </a:r>
            <a:endParaRPr lang="en-US" sz="1300" dirty="0"/>
          </a:p>
        </p:txBody>
      </p:sp>
      <p:sp>
        <p:nvSpPr>
          <p:cNvPr id="14" name="Shape 12"/>
          <p:cNvSpPr/>
          <p:nvPr/>
        </p:nvSpPr>
        <p:spPr>
          <a:xfrm>
            <a:off x="6400800" y="2084832"/>
            <a:ext cx="274320" cy="0"/>
          </a:xfrm>
          <a:prstGeom prst="line">
            <a:avLst/>
          </a:prstGeom>
          <a:noFill/>
          <a:ln w="25400">
            <a:solidFill>
              <a:srgbClr val="64748B"/>
            </a:solidFill>
            <a:prstDash val="solid"/>
          </a:ln>
        </p:spPr>
      </p:sp>
      <p:sp>
        <p:nvSpPr>
          <p:cNvPr id="15" name="Text 13"/>
          <p:cNvSpPr/>
          <p:nvPr/>
        </p:nvSpPr>
        <p:spPr>
          <a:xfrm>
            <a:off x="6510528" y="1956816"/>
            <a:ext cx="182880" cy="256032"/>
          </a:xfrm>
          <a:prstGeom prst="rect">
            <a:avLst/>
          </a:prstGeom>
          <a:noFill/>
          <a:ln/>
        </p:spPr>
        <p:txBody>
          <a:bodyPr wrap="square" lIns="0" tIns="0" rIns="0" bIns="0" rtlCol="0" anchor="ctr"/>
          <a:lstStyle/>
          <a:p>
            <a:pPr marL="0" indent="0" algn="ctr">
              <a:buNone/>
            </a:pPr>
            <a:r>
              <a:rPr lang="en-US" sz="900" dirty="0">
                <a:solidFill>
                  <a:srgbClr val="64748B"/>
                </a:solidFill>
              </a:rPr>
              <a:t>▶</a:t>
            </a:r>
            <a:endParaRPr lang="en-US" sz="900" dirty="0"/>
          </a:p>
        </p:txBody>
      </p:sp>
      <p:sp>
        <p:nvSpPr>
          <p:cNvPr id="16" name="Shape 14"/>
          <p:cNvSpPr/>
          <p:nvPr/>
        </p:nvSpPr>
        <p:spPr>
          <a:xfrm>
            <a:off x="6675120" y="1627632"/>
            <a:ext cx="1691640" cy="914400"/>
          </a:xfrm>
          <a:prstGeom prst="rect">
            <a:avLst/>
          </a:prstGeom>
          <a:solidFill>
            <a:srgbClr val="059669"/>
          </a:solidFill>
          <a:ln w="12700">
            <a:solidFill>
              <a:srgbClr val="059669"/>
            </a:solidFill>
            <a:prstDash val="solid"/>
          </a:ln>
        </p:spPr>
      </p:sp>
      <p:sp>
        <p:nvSpPr>
          <p:cNvPr id="17" name="Text 15"/>
          <p:cNvSpPr/>
          <p:nvPr/>
        </p:nvSpPr>
        <p:spPr>
          <a:xfrm>
            <a:off x="6675120" y="1627632"/>
            <a:ext cx="16916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PWM</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Light Control</a:t>
            </a:r>
            <a:endParaRPr lang="en-US" sz="1300" dirty="0"/>
          </a:p>
        </p:txBody>
      </p:sp>
      <p:sp>
        <p:nvSpPr>
          <p:cNvPr id="18" name="Shape 16"/>
          <p:cNvSpPr/>
          <p:nvPr/>
        </p:nvSpPr>
        <p:spPr>
          <a:xfrm>
            <a:off x="658368" y="2743200"/>
            <a:ext cx="1874520" cy="749808"/>
          </a:xfrm>
          <a:prstGeom prst="rect">
            <a:avLst/>
          </a:prstGeom>
          <a:solidFill>
            <a:srgbClr val="1D4ED8">
              <a:alpha val="85000"/>
            </a:srgbClr>
          </a:solidFill>
          <a:ln w="12700">
            <a:solidFill>
              <a:srgbClr val="1D4ED8"/>
            </a:solidFill>
            <a:prstDash val="solid"/>
          </a:ln>
        </p:spPr>
      </p:sp>
      <p:sp>
        <p:nvSpPr>
          <p:cNvPr id="19" name="Text 17"/>
          <p:cNvSpPr/>
          <p:nvPr/>
        </p:nvSpPr>
        <p:spPr>
          <a:xfrm>
            <a:off x="658368" y="2743200"/>
            <a:ext cx="1874520" cy="749808"/>
          </a:xfrm>
          <a:prstGeom prst="rect">
            <a:avLst/>
          </a:prstGeom>
          <a:noFill/>
          <a:ln/>
        </p:spPr>
        <p:txBody>
          <a:bodyPr wrap="square" rtlCol="0" anchor="ctr"/>
          <a:lstStyle/>
          <a:p>
            <a:pPr marL="0" indent="0" algn="ctr">
              <a:buNone/>
            </a:pPr>
            <a:r>
              <a:rPr lang="en-US" sz="1400" b="1" dirty="0">
                <a:solidFill>
                  <a:srgbClr val="FFFFFF"/>
                </a:solidFill>
              </a:rPr>
              <a:t>computer</a:t>
            </a:r>
            <a:endParaRPr lang="en-US" sz="1400" dirty="0"/>
          </a:p>
          <a:p>
            <a:pPr marL="0" indent="0" algn="ctr">
              <a:buNone/>
            </a:pPr>
            <a:r>
              <a:rPr lang="en-US" sz="1100" dirty="0">
                <a:solidFill>
                  <a:srgbClr val="CBD5E1"/>
                </a:solidFill>
              </a:rPr>
              <a:t>Cool Work Light</a:t>
            </a:r>
            <a:endParaRPr lang="en-US" sz="1400" dirty="0"/>
          </a:p>
          <a:p>
            <a:pPr marL="0" indent="0" algn="ctr">
              <a:buNone/>
            </a:pPr>
            <a:r>
              <a:rPr lang="en-US" sz="1000" dirty="0">
                <a:solidFill>
                  <a:srgbClr val="94A3B8"/>
                </a:solidFill>
              </a:rPr>
              <a:t>Cool=250  Warm=0</a:t>
            </a:r>
            <a:endParaRPr lang="en-US" sz="1400" dirty="0"/>
          </a:p>
        </p:txBody>
      </p:sp>
      <p:sp>
        <p:nvSpPr>
          <p:cNvPr id="20" name="Shape 18"/>
          <p:cNvSpPr/>
          <p:nvPr/>
        </p:nvSpPr>
        <p:spPr>
          <a:xfrm>
            <a:off x="2642616" y="2743200"/>
            <a:ext cx="1874520" cy="749808"/>
          </a:xfrm>
          <a:prstGeom prst="rect">
            <a:avLst/>
          </a:prstGeom>
          <a:solidFill>
            <a:srgbClr val="374151">
              <a:alpha val="85000"/>
            </a:srgbClr>
          </a:solidFill>
          <a:ln w="12700">
            <a:solidFill>
              <a:srgbClr val="374151"/>
            </a:solidFill>
            <a:prstDash val="solid"/>
          </a:ln>
        </p:spPr>
      </p:sp>
      <p:sp>
        <p:nvSpPr>
          <p:cNvPr id="21" name="Text 19"/>
          <p:cNvSpPr/>
          <p:nvPr/>
        </p:nvSpPr>
        <p:spPr>
          <a:xfrm>
            <a:off x="2642616" y="2743200"/>
            <a:ext cx="1874520" cy="749808"/>
          </a:xfrm>
          <a:prstGeom prst="rect">
            <a:avLst/>
          </a:prstGeom>
          <a:noFill/>
          <a:ln/>
        </p:spPr>
        <p:txBody>
          <a:bodyPr wrap="square" rtlCol="0" anchor="ctr"/>
          <a:lstStyle/>
          <a:p>
            <a:pPr marL="0" indent="0" algn="ctr">
              <a:buNone/>
            </a:pPr>
            <a:r>
              <a:rPr lang="en-US" sz="1400" b="1" dirty="0">
                <a:solidFill>
                  <a:srgbClr val="FFFFFF"/>
                </a:solidFill>
              </a:rPr>
              <a:t>empty</a:t>
            </a:r>
            <a:endParaRPr lang="en-US" sz="1400" dirty="0"/>
          </a:p>
          <a:p>
            <a:pPr marL="0" indent="0" algn="ctr">
              <a:buNone/>
            </a:pPr>
            <a:r>
              <a:rPr lang="en-US" sz="1100" dirty="0">
                <a:solidFill>
                  <a:srgbClr val="CBD5E1"/>
                </a:solidFill>
              </a:rPr>
              <a:t>Lights Off</a:t>
            </a:r>
            <a:endParaRPr lang="en-US" sz="1400" dirty="0"/>
          </a:p>
          <a:p>
            <a:pPr marL="0" indent="0" algn="ctr">
              <a:buNone/>
            </a:pPr>
            <a:r>
              <a:rPr lang="en-US" sz="1000" dirty="0">
                <a:solidFill>
                  <a:srgbClr val="94A3B8"/>
                </a:solidFill>
              </a:rPr>
              <a:t>Cool=0   Warm=0</a:t>
            </a:r>
            <a:endParaRPr lang="en-US" sz="1400" dirty="0"/>
          </a:p>
        </p:txBody>
      </p:sp>
      <p:sp>
        <p:nvSpPr>
          <p:cNvPr id="22" name="Shape 20"/>
          <p:cNvSpPr/>
          <p:nvPr/>
        </p:nvSpPr>
        <p:spPr>
          <a:xfrm>
            <a:off x="4626864" y="2743200"/>
            <a:ext cx="1874520" cy="749808"/>
          </a:xfrm>
          <a:prstGeom prst="rect">
            <a:avLst/>
          </a:prstGeom>
          <a:solidFill>
            <a:srgbClr val="0369A1">
              <a:alpha val="85000"/>
            </a:srgbClr>
          </a:solidFill>
          <a:ln w="12700">
            <a:solidFill>
              <a:srgbClr val="0369A1"/>
            </a:solidFill>
            <a:prstDash val="solid"/>
          </a:ln>
        </p:spPr>
      </p:sp>
      <p:sp>
        <p:nvSpPr>
          <p:cNvPr id="23" name="Text 21"/>
          <p:cNvSpPr/>
          <p:nvPr/>
        </p:nvSpPr>
        <p:spPr>
          <a:xfrm>
            <a:off x="4626864" y="2743200"/>
            <a:ext cx="1874520" cy="749808"/>
          </a:xfrm>
          <a:prstGeom prst="rect">
            <a:avLst/>
          </a:prstGeom>
          <a:noFill/>
          <a:ln/>
        </p:spPr>
        <p:txBody>
          <a:bodyPr wrap="square" rtlCol="0" anchor="ctr"/>
          <a:lstStyle/>
          <a:p>
            <a:pPr marL="0" indent="0" algn="ctr">
              <a:buNone/>
            </a:pPr>
            <a:r>
              <a:rPr lang="en-US" sz="1400" b="1" dirty="0">
                <a:solidFill>
                  <a:srgbClr val="FFFFFF"/>
                </a:solidFill>
              </a:rPr>
              <a:t>ipad</a:t>
            </a:r>
            <a:endParaRPr lang="en-US" sz="1400" dirty="0"/>
          </a:p>
          <a:p>
            <a:pPr marL="0" indent="0" algn="ctr">
              <a:buNone/>
            </a:pPr>
            <a:r>
              <a:rPr lang="en-US" sz="1100" dirty="0">
                <a:solidFill>
                  <a:srgbClr val="CBD5E1"/>
                </a:solidFill>
              </a:rPr>
              <a:t>Bright Reading</a:t>
            </a:r>
            <a:endParaRPr lang="en-US" sz="1400" dirty="0"/>
          </a:p>
          <a:p>
            <a:pPr marL="0" indent="0" algn="ctr">
              <a:buNone/>
            </a:pPr>
            <a:r>
              <a:rPr lang="en-US" sz="1000" dirty="0">
                <a:solidFill>
                  <a:srgbClr val="94A3B8"/>
                </a:solidFill>
              </a:rPr>
              <a:t>Cool=250  Warm=250</a:t>
            </a:r>
            <a:endParaRPr lang="en-US" sz="1400" dirty="0"/>
          </a:p>
        </p:txBody>
      </p:sp>
      <p:sp>
        <p:nvSpPr>
          <p:cNvPr id="24" name="Shape 22"/>
          <p:cNvSpPr/>
          <p:nvPr/>
        </p:nvSpPr>
        <p:spPr>
          <a:xfrm>
            <a:off x="6611112" y="2743200"/>
            <a:ext cx="1874520" cy="749808"/>
          </a:xfrm>
          <a:prstGeom prst="rect">
            <a:avLst/>
          </a:prstGeom>
          <a:solidFill>
            <a:srgbClr val="92400E">
              <a:alpha val="85000"/>
            </a:srgbClr>
          </a:solidFill>
          <a:ln w="12700">
            <a:solidFill>
              <a:srgbClr val="92400E"/>
            </a:solidFill>
            <a:prstDash val="solid"/>
          </a:ln>
        </p:spPr>
      </p:sp>
      <p:sp>
        <p:nvSpPr>
          <p:cNvPr id="25" name="Text 23"/>
          <p:cNvSpPr/>
          <p:nvPr/>
        </p:nvSpPr>
        <p:spPr>
          <a:xfrm>
            <a:off x="6611112" y="2743200"/>
            <a:ext cx="1874520" cy="749808"/>
          </a:xfrm>
          <a:prstGeom prst="rect">
            <a:avLst/>
          </a:prstGeom>
          <a:noFill/>
          <a:ln/>
        </p:spPr>
        <p:txBody>
          <a:bodyPr wrap="square" rtlCol="0" anchor="ctr"/>
          <a:lstStyle/>
          <a:p>
            <a:pPr marL="0" indent="0" algn="ctr">
              <a:buNone/>
            </a:pPr>
            <a:r>
              <a:rPr lang="en-US" sz="1400" b="1" dirty="0">
                <a:solidFill>
                  <a:srgbClr val="FFFFFF"/>
                </a:solidFill>
              </a:rPr>
              <a:t>phone</a:t>
            </a:r>
            <a:endParaRPr lang="en-US" sz="1400" dirty="0"/>
          </a:p>
          <a:p>
            <a:pPr marL="0" indent="0" algn="ctr">
              <a:buNone/>
            </a:pPr>
            <a:r>
              <a:rPr lang="en-US" sz="1100" dirty="0">
                <a:solidFill>
                  <a:srgbClr val="CBD5E1"/>
                </a:solidFill>
              </a:rPr>
              <a:t>Dim Warm Light</a:t>
            </a:r>
            <a:endParaRPr lang="en-US" sz="1400" dirty="0"/>
          </a:p>
          <a:p>
            <a:pPr marL="0" indent="0" algn="ctr">
              <a:buNone/>
            </a:pPr>
            <a:r>
              <a:rPr lang="en-US" sz="1000" dirty="0">
                <a:solidFill>
                  <a:srgbClr val="94A3B8"/>
                </a:solidFill>
              </a:rPr>
              <a:t>Cool=0   Warm=250</a:t>
            </a:r>
            <a:endParaRPr lang="en-US" sz="1400" dirty="0"/>
          </a:p>
        </p:txBody>
      </p:sp>
      <p:sp>
        <p:nvSpPr>
          <p:cNvPr id="26" name="Text 24"/>
          <p:cNvSpPr/>
          <p:nvPr/>
        </p:nvSpPr>
        <p:spPr>
          <a:xfrm>
            <a:off x="457200" y="3566160"/>
            <a:ext cx="8229600" cy="292608"/>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scene → on-device model → class prediction → automatic light mode</a:t>
            </a:r>
            <a:endParaRPr lang="en-US" sz="1300" dirty="0"/>
          </a:p>
        </p:txBody>
      </p:sp>
      <p:sp>
        <p:nvSpPr>
          <p:cNvPr id="27" name="Text 25"/>
          <p:cNvSpPr/>
          <p:nvPr/>
        </p:nvSpPr>
        <p:spPr>
          <a:xfrm>
            <a:off x="822960" y="3931920"/>
            <a:ext cx="7498080" cy="960120"/>
          </a:xfrm>
          <a:prstGeom prst="rect">
            <a:avLst/>
          </a:prstGeom>
          <a:noFill/>
          <a:ln/>
        </p:spPr>
        <p:txBody>
          <a:bodyPr wrap="square" rtlCol="0" anchor="ctr"/>
          <a:lstStyle/>
          <a:p>
            <a:pPr marL="342900" indent="-342900">
              <a:buSzPct val="100000"/>
              <a:buChar char="•"/>
            </a:pPr>
            <a:r>
              <a:rPr lang="en-US" sz="1300" dirty="0">
                <a:solidFill>
                  <a:srgbClr val="CBD5E1"/>
                </a:solidFill>
                <a:latin typeface="Calibri" pitchFamily="34" charset="0"/>
                <a:ea typeface="Calibri" pitchFamily="34" charset="-122"/>
                <a:cs typeface="Calibri" pitchFamily="34" charset="-120"/>
              </a:rPr>
              <a:t>Fixed overhead camera captures the desk scene continuously</a:t>
            </a:r>
            <a:endParaRPr lang="en-US" sz="1300" dirty="0"/>
          </a:p>
          <a:p>
            <a:pPr marL="342900" indent="-342900">
              <a:buSzPct val="100000"/>
              <a:buChar char="•"/>
            </a:pPr>
            <a:r>
              <a:rPr lang="en-US" sz="1300" dirty="0">
                <a:solidFill>
                  <a:srgbClr val="CBD5E1"/>
                </a:solidFill>
                <a:latin typeface="Calibri" pitchFamily="34" charset="0"/>
                <a:ea typeface="Calibri" pitchFamily="34" charset="-122"/>
                <a:cs typeface="Calibri" pitchFamily="34" charset="-120"/>
              </a:rPr>
              <a:t>MobileNetV2 96×96 (0.35 width) runs inference fully on-device</a:t>
            </a:r>
            <a:endParaRPr lang="en-US" sz="1300" dirty="0"/>
          </a:p>
          <a:p>
            <a:pPr marL="342900" indent="-342900">
              <a:buSzPct val="100000"/>
              <a:buChar char="•"/>
            </a:pPr>
            <a:r>
              <a:rPr lang="en-US" sz="1300" dirty="0">
                <a:solidFill>
                  <a:srgbClr val="CBD5E1"/>
                </a:solidFill>
                <a:latin typeface="Calibri" pitchFamily="34" charset="0"/>
                <a:ea typeface="Calibri" pitchFamily="34" charset="-122"/>
                <a:cs typeface="Calibri" pitchFamily="34" charset="-120"/>
              </a:rPr>
              <a:t>Two PWM LED channels — cool white + warm white — set automatically per class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9488"/>
          </a:solidFill>
          <a:ln w="12700">
            <a:solidFill>
              <a:srgbClr val="0D9488"/>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&amp; Data</a:t>
            </a:r>
            <a:endParaRPr lang="en-US" sz="2800" dirty="0"/>
          </a:p>
        </p:txBody>
      </p:sp>
      <p:sp>
        <p:nvSpPr>
          <p:cNvPr id="4" name="Shape 2"/>
          <p:cNvSpPr/>
          <p:nvPr/>
        </p:nvSpPr>
        <p:spPr>
          <a:xfrm>
            <a:off x="274320" y="914400"/>
            <a:ext cx="3977640" cy="3931920"/>
          </a:xfrm>
          <a:prstGeom prst="rect">
            <a:avLst/>
          </a:prstGeom>
          <a:solidFill>
            <a:srgbClr val="FFFFFF"/>
          </a:solidFill>
          <a:ln w="12700">
            <a:solidFill>
              <a:srgbClr val="E2E8F0"/>
            </a:solidFill>
            <a:prstDash val="solid"/>
          </a:ln>
        </p:spPr>
      </p:sp>
      <p:sp>
        <p:nvSpPr>
          <p:cNvPr id="5" name="Shape 3"/>
          <p:cNvSpPr/>
          <p:nvPr/>
        </p:nvSpPr>
        <p:spPr>
          <a:xfrm>
            <a:off x="274320" y="914400"/>
            <a:ext cx="3977640" cy="384048"/>
          </a:xfrm>
          <a:prstGeom prst="rect">
            <a:avLst/>
          </a:prstGeom>
          <a:solidFill>
            <a:srgbClr val="0284C7"/>
          </a:solidFill>
          <a:ln w="12700">
            <a:solidFill>
              <a:srgbClr val="0284C7"/>
            </a:solidFill>
            <a:prstDash val="solid"/>
          </a:ln>
        </p:spPr>
      </p:sp>
      <p:sp>
        <p:nvSpPr>
          <p:cNvPr id="6" name="Text 4"/>
          <p:cNvSpPr/>
          <p:nvPr/>
        </p:nvSpPr>
        <p:spPr>
          <a:xfrm>
            <a:off x="411480" y="914400"/>
            <a:ext cx="384048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p>
        </p:txBody>
      </p:sp>
      <p:sp>
        <p:nvSpPr>
          <p:cNvPr id="7" name="Text 5"/>
          <p:cNvSpPr/>
          <p:nvPr/>
        </p:nvSpPr>
        <p:spPr>
          <a:xfrm>
            <a:off x="411480" y="1389888"/>
            <a:ext cx="3703320" cy="3291840"/>
          </a:xfrm>
          <a:prstGeom prst="rect">
            <a:avLst/>
          </a:prstGeom>
          <a:noFill/>
          <a:ln/>
        </p:spPr>
        <p:txBody>
          <a:bodyPr wrap="square" rtlCol="0" anchor="t"/>
          <a:lstStyle/>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MobileNetV2 96×96, width 0.35 — lightweight enough to run on ESP32S3</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4-class image classification: computer / empty / ipad / phone</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Highest-confidence prediction selected each inference cycle</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Compiled into Arduino firmware — runs fully on-chip, no cloud</a:t>
            </a:r>
            <a:endParaRPr lang="en-US" sz="1350" dirty="0"/>
          </a:p>
        </p:txBody>
      </p:sp>
      <p:sp>
        <p:nvSpPr>
          <p:cNvPr id="8" name="Shape 6"/>
          <p:cNvSpPr/>
          <p:nvPr/>
        </p:nvSpPr>
        <p:spPr>
          <a:xfrm>
            <a:off x="4617720" y="914400"/>
            <a:ext cx="4251960" cy="3931920"/>
          </a:xfrm>
          <a:prstGeom prst="rect">
            <a:avLst/>
          </a:prstGeom>
          <a:solidFill>
            <a:srgbClr val="FFFFFF"/>
          </a:solidFill>
          <a:ln w="12700">
            <a:solidFill>
              <a:srgbClr val="E2E8F0"/>
            </a:solidFill>
            <a:prstDash val="solid"/>
          </a:ln>
        </p:spPr>
      </p:sp>
      <p:sp>
        <p:nvSpPr>
          <p:cNvPr id="9" name="Shape 7"/>
          <p:cNvSpPr/>
          <p:nvPr/>
        </p:nvSpPr>
        <p:spPr>
          <a:xfrm>
            <a:off x="4617720" y="914400"/>
            <a:ext cx="4251960" cy="384048"/>
          </a:xfrm>
          <a:prstGeom prst="rect">
            <a:avLst/>
          </a:prstGeom>
          <a:solidFill>
            <a:srgbClr val="0F766E"/>
          </a:solidFill>
          <a:ln w="12700">
            <a:solidFill>
              <a:srgbClr val="0F766E"/>
            </a:solidFill>
            <a:prstDash val="solid"/>
          </a:ln>
        </p:spPr>
      </p:sp>
      <p:sp>
        <p:nvSpPr>
          <p:cNvPr id="10" name="Text 8"/>
          <p:cNvSpPr/>
          <p:nvPr/>
        </p:nvSpPr>
        <p:spPr>
          <a:xfrm>
            <a:off x="4754880" y="914400"/>
            <a:ext cx="411480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a:t>
            </a:r>
            <a:endParaRPr lang="en-US" sz="1500" dirty="0"/>
          </a:p>
        </p:txBody>
      </p:sp>
      <p:sp>
        <p:nvSpPr>
          <p:cNvPr id="11" name="Text 9"/>
          <p:cNvSpPr/>
          <p:nvPr/>
        </p:nvSpPr>
        <p:spPr>
          <a:xfrm>
            <a:off x="4754880" y="1389888"/>
            <a:ext cx="3977640" cy="3291840"/>
          </a:xfrm>
          <a:prstGeom prst="rect">
            <a:avLst/>
          </a:prstGeom>
          <a:noFill/>
          <a:ln/>
        </p:spPr>
        <p:txBody>
          <a:bodyPr wrap="square" rtlCol="0" anchor="t"/>
          <a:lstStyle/>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~50 images per class, captured directly from the XIAO camera</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Same fixed camera angle used for both training and deployment</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Labels match lighting behavior — not object identity</a:t>
            </a:r>
            <a:endParaRPr lang="en-US" sz="1350" dirty="0"/>
          </a:p>
          <a:p>
            <a:pPr marL="342900" indent="-342900">
              <a:buSzPct val="100000"/>
              <a:buChar char="•"/>
            </a:pPr>
            <a:r>
              <a:rPr lang="en-US" sz="1350" dirty="0">
                <a:solidFill>
                  <a:srgbClr val="1E293B"/>
                </a:solidFill>
                <a:latin typeface="Calibri" pitchFamily="34" charset="0"/>
                <a:ea typeface="Calibri" pitchFamily="34" charset="-122"/>
                <a:cs typeface="Calibri" pitchFamily="34" charset="-120"/>
              </a:rPr>
              <a:t>Hard negatives for “empty”: desk with objects visible, but no active user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7C3AED"/>
          </a:solidFill>
          <a:ln w="12700">
            <a:solidFill>
              <a:srgbClr val="7C3AED"/>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Design Challenges</a:t>
            </a:r>
            <a:endParaRPr lang="en-US" sz="2800" dirty="0"/>
          </a:p>
        </p:txBody>
      </p:sp>
      <p:sp>
        <p:nvSpPr>
          <p:cNvPr id="4" name="Shape 2"/>
          <p:cNvSpPr/>
          <p:nvPr/>
        </p:nvSpPr>
        <p:spPr>
          <a:xfrm>
            <a:off x="274320" y="914400"/>
            <a:ext cx="3886200" cy="2423160"/>
          </a:xfrm>
          <a:prstGeom prst="rect">
            <a:avLst/>
          </a:prstGeom>
          <a:solidFill>
            <a:srgbClr val="FEF2F2"/>
          </a:solidFill>
          <a:ln w="12700">
            <a:solidFill>
              <a:srgbClr val="FECACA"/>
            </a:solidFill>
            <a:prstDash val="solid"/>
          </a:ln>
        </p:spPr>
      </p:sp>
      <p:sp>
        <p:nvSpPr>
          <p:cNvPr id="5" name="Shape 3"/>
          <p:cNvSpPr/>
          <p:nvPr/>
        </p:nvSpPr>
        <p:spPr>
          <a:xfrm>
            <a:off x="274320" y="914400"/>
            <a:ext cx="3886200" cy="384048"/>
          </a:xfrm>
          <a:prstGeom prst="rect">
            <a:avLst/>
          </a:prstGeom>
          <a:solidFill>
            <a:srgbClr val="DC2626"/>
          </a:solidFill>
          <a:ln w="12700">
            <a:solidFill>
              <a:srgbClr val="DC2626"/>
            </a:solidFill>
            <a:prstDash val="solid"/>
          </a:ln>
        </p:spPr>
      </p:sp>
      <p:sp>
        <p:nvSpPr>
          <p:cNvPr id="6" name="Text 4"/>
          <p:cNvSpPr/>
          <p:nvPr/>
        </p:nvSpPr>
        <p:spPr>
          <a:xfrm>
            <a:off x="411480" y="914400"/>
            <a:ext cx="3749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Original Plan</a:t>
            </a:r>
            <a:endParaRPr lang="en-US" sz="1400" dirty="0"/>
          </a:p>
        </p:txBody>
      </p:sp>
      <p:sp>
        <p:nvSpPr>
          <p:cNvPr id="7" name="Text 5"/>
          <p:cNvSpPr/>
          <p:nvPr/>
        </p:nvSpPr>
        <p:spPr>
          <a:xfrm>
            <a:off x="411480" y="1389888"/>
            <a:ext cx="3611880" cy="1828800"/>
          </a:xfrm>
          <a:prstGeom prst="rect">
            <a:avLst/>
          </a:prstGeom>
          <a:noFill/>
          <a:ln/>
        </p:spPr>
        <p:txBody>
          <a:bodyPr wrap="square" rtlCol="0" anchor="t"/>
          <a:lstStyle/>
          <a:p>
            <a:pPr marL="342900" indent="-342900">
              <a:buSzPct val="100000"/>
              <a:buChar char="•"/>
            </a:pPr>
            <a:r>
              <a:rPr lang="en-US" sz="1300" dirty="0">
                <a:solidFill>
                  <a:srgbClr val="991B1B"/>
                </a:solidFill>
                <a:latin typeface="Calibri" pitchFamily="34" charset="0"/>
                <a:ea typeface="Calibri" pitchFamily="34" charset="-122"/>
                <a:cs typeface="Calibri" pitchFamily="34" charset="-120"/>
              </a:rPr>
              <a:t>Detect hand–object interactions on the desk</a:t>
            </a:r>
            <a:endParaRPr lang="en-US" sz="1300" dirty="0"/>
          </a:p>
          <a:p>
            <a:pPr marL="342900" indent="-342900">
              <a:buSzPct val="100000"/>
              <a:buChar char="•"/>
            </a:pPr>
            <a:r>
              <a:rPr lang="en-US" sz="1300" dirty="0">
                <a:solidFill>
                  <a:srgbClr val="991B1B"/>
                </a:solidFill>
                <a:latin typeface="Calibri" pitchFamily="34" charset="0"/>
                <a:ea typeface="Calibri" pitchFamily="34" charset="-122"/>
                <a:cs typeface="Calibri" pitchFamily="34" charset="-120"/>
              </a:rPr>
              <a:t>Hand on keyboard/mouse → computer mode</a:t>
            </a:r>
            <a:endParaRPr lang="en-US" sz="1300" dirty="0"/>
          </a:p>
          <a:p>
            <a:pPr marL="342900" indent="-342900">
              <a:buSzPct val="100000"/>
              <a:buChar char="•"/>
            </a:pPr>
            <a:r>
              <a:rPr lang="en-US" sz="1300" dirty="0">
                <a:solidFill>
                  <a:srgbClr val="991B1B"/>
                </a:solidFill>
                <a:latin typeface="Calibri" pitchFamily="34" charset="0"/>
                <a:ea typeface="Calibri" pitchFamily="34" charset="-122"/>
                <a:cs typeface="Calibri" pitchFamily="34" charset="-120"/>
              </a:rPr>
              <a:t>Hand on paper/book → reading mode</a:t>
            </a:r>
            <a:endParaRPr lang="en-US" sz="1300" dirty="0"/>
          </a:p>
          <a:p>
            <a:pPr marL="342900" indent="-342900">
              <a:buSzPct val="100000"/>
              <a:buChar char="•"/>
            </a:pPr>
            <a:r>
              <a:rPr lang="en-US" sz="1300" dirty="0">
                <a:solidFill>
                  <a:srgbClr val="991B1B"/>
                </a:solidFill>
                <a:latin typeface="Calibri" pitchFamily="34" charset="0"/>
                <a:ea typeface="Calibri" pitchFamily="34" charset="-122"/>
                <a:cs typeface="Calibri" pitchFamily="34" charset="-120"/>
              </a:rPr>
              <a:t>Problem: hands rest near keyboard even when not typing</a:t>
            </a:r>
            <a:endParaRPr lang="en-US" sz="1300" dirty="0"/>
          </a:p>
        </p:txBody>
      </p:sp>
      <p:sp>
        <p:nvSpPr>
          <p:cNvPr id="8" name="Text 6"/>
          <p:cNvSpPr/>
          <p:nvPr/>
        </p:nvSpPr>
        <p:spPr>
          <a:xfrm>
            <a:off x="4160520" y="1737360"/>
            <a:ext cx="822960" cy="640080"/>
          </a:xfrm>
          <a:prstGeom prst="rect">
            <a:avLst/>
          </a:prstGeom>
          <a:noFill/>
          <a:ln/>
        </p:spPr>
        <p:txBody>
          <a:bodyPr wrap="square" rtlCol="0" anchor="ctr"/>
          <a:lstStyle/>
          <a:p>
            <a:pPr marL="0" indent="0" algn="ctr">
              <a:buNone/>
            </a:pPr>
            <a:r>
              <a:rPr lang="en-US" sz="3400" dirty="0">
                <a:solidFill>
                  <a:srgbClr val="64748B"/>
                </a:solidFill>
              </a:rPr>
              <a:t>→</a:t>
            </a:r>
            <a:endParaRPr lang="en-US" sz="3400" dirty="0"/>
          </a:p>
        </p:txBody>
      </p:sp>
      <p:sp>
        <p:nvSpPr>
          <p:cNvPr id="9" name="Shape 7"/>
          <p:cNvSpPr/>
          <p:nvPr/>
        </p:nvSpPr>
        <p:spPr>
          <a:xfrm>
            <a:off x="4983480" y="914400"/>
            <a:ext cx="3886200" cy="2514600"/>
          </a:xfrm>
          <a:prstGeom prst="rect">
            <a:avLst/>
          </a:prstGeom>
          <a:solidFill>
            <a:srgbClr val="F0FDF4"/>
          </a:solidFill>
          <a:ln w="12700">
            <a:solidFill>
              <a:srgbClr val="BBF7D0"/>
            </a:solidFill>
            <a:prstDash val="solid"/>
          </a:ln>
        </p:spPr>
      </p:sp>
      <p:sp>
        <p:nvSpPr>
          <p:cNvPr id="10" name="Shape 8"/>
          <p:cNvSpPr/>
          <p:nvPr/>
        </p:nvSpPr>
        <p:spPr>
          <a:xfrm>
            <a:off x="4983480" y="914400"/>
            <a:ext cx="3886200" cy="384048"/>
          </a:xfrm>
          <a:prstGeom prst="rect">
            <a:avLst/>
          </a:prstGeom>
          <a:solidFill>
            <a:srgbClr val="16A34A"/>
          </a:solidFill>
          <a:ln w="12700">
            <a:solidFill>
              <a:srgbClr val="16A34A"/>
            </a:solidFill>
            <a:prstDash val="solid"/>
          </a:ln>
        </p:spPr>
      </p:sp>
      <p:sp>
        <p:nvSpPr>
          <p:cNvPr id="11" name="Text 9"/>
          <p:cNvSpPr/>
          <p:nvPr/>
        </p:nvSpPr>
        <p:spPr>
          <a:xfrm>
            <a:off x="5120640" y="914400"/>
            <a:ext cx="374904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Final Design</a:t>
            </a:r>
            <a:endParaRPr lang="en-US" sz="1400" dirty="0"/>
          </a:p>
        </p:txBody>
      </p:sp>
      <p:sp>
        <p:nvSpPr>
          <p:cNvPr id="12" name="Text 10"/>
          <p:cNvSpPr/>
          <p:nvPr/>
        </p:nvSpPr>
        <p:spPr>
          <a:xfrm>
            <a:off x="5120640" y="1389888"/>
            <a:ext cx="3611880" cy="2057400"/>
          </a:xfrm>
          <a:prstGeom prst="rect">
            <a:avLst/>
          </a:prstGeom>
          <a:noFill/>
          <a:ln/>
        </p:spPr>
        <p:txBody>
          <a:bodyPr wrap="square" rtlCol="0" anchor="t"/>
          <a:lstStyle/>
          <a:p>
            <a:pPr marL="342900" indent="-342900">
              <a:buSzPct val="100000"/>
              <a:buChar char="•"/>
            </a:pPr>
            <a:r>
              <a:rPr lang="en-US" sz="1300" dirty="0">
                <a:solidFill>
                  <a:srgbClr val="166534"/>
                </a:solidFill>
                <a:latin typeface="Calibri" pitchFamily="34" charset="0"/>
                <a:ea typeface="Calibri" pitchFamily="34" charset="-122"/>
                <a:cs typeface="Calibri" pitchFamily="34" charset="-120"/>
              </a:rPr>
              <a:t>Classify the whole desk scene (no hand detection)</a:t>
            </a:r>
            <a:endParaRPr lang="en-US" sz="1300" dirty="0"/>
          </a:p>
          <a:p>
            <a:pPr marL="342900" indent="-342900">
              <a:buSzPct val="100000"/>
              <a:buChar char="•"/>
            </a:pPr>
            <a:r>
              <a:rPr lang="en-US" sz="1300" dirty="0">
                <a:solidFill>
                  <a:srgbClr val="166534"/>
                </a:solidFill>
                <a:latin typeface="Calibri" pitchFamily="34" charset="0"/>
                <a:ea typeface="Calibri" pitchFamily="34" charset="-122"/>
                <a:cs typeface="Calibri" pitchFamily="34" charset="-120"/>
              </a:rPr>
              <a:t>4 scene labels → 4 light modes — direct mapping</a:t>
            </a:r>
            <a:endParaRPr lang="en-US" sz="1300" dirty="0"/>
          </a:p>
          <a:p>
            <a:pPr marL="342900" indent="-342900">
              <a:buSzPct val="100000"/>
              <a:buChar char="•"/>
            </a:pPr>
            <a:r>
              <a:rPr lang="en-US" sz="1300" dirty="0">
                <a:solidFill>
                  <a:srgbClr val="166534"/>
                </a:solidFill>
                <a:latin typeface="Calibri" pitchFamily="34" charset="0"/>
                <a:ea typeface="Calibri" pitchFamily="34" charset="-122"/>
                <a:cs typeface="Calibri" pitchFamily="34" charset="-120"/>
              </a:rPr>
              <a:t>More reliable on a fixed camera with a small model</a:t>
            </a:r>
            <a:endParaRPr lang="en-US" sz="1300" dirty="0"/>
          </a:p>
          <a:p>
            <a:pPr marL="342900" indent="-342900">
              <a:buSzPct val="100000"/>
              <a:buChar char="•"/>
            </a:pPr>
            <a:r>
              <a:rPr lang="en-US" sz="1300" dirty="0">
                <a:solidFill>
                  <a:srgbClr val="166534"/>
                </a:solidFill>
                <a:latin typeface="Calibri" pitchFamily="34" charset="0"/>
                <a:ea typeface="Calibri" pitchFamily="34" charset="-122"/>
                <a:cs typeface="Calibri" pitchFamily="34" charset="-120"/>
              </a:rPr>
              <a:t>Simpler labels = cleaner data = better consistency</a:t>
            </a:r>
            <a:endParaRPr lang="en-US" sz="1300" dirty="0"/>
          </a:p>
        </p:txBody>
      </p:sp>
      <p:sp>
        <p:nvSpPr>
          <p:cNvPr id="13" name="Shape 11"/>
          <p:cNvSpPr/>
          <p:nvPr/>
        </p:nvSpPr>
        <p:spPr>
          <a:xfrm>
            <a:off x="274320" y="3502152"/>
            <a:ext cx="8595360" cy="347472"/>
          </a:xfrm>
          <a:prstGeom prst="rect">
            <a:avLst/>
          </a:prstGeom>
          <a:solidFill>
            <a:srgbClr val="6D28D9"/>
          </a:solidFill>
          <a:ln w="12700">
            <a:solidFill>
              <a:srgbClr val="6D28D9"/>
            </a:solidFill>
            <a:prstDash val="solid"/>
          </a:ln>
        </p:spPr>
      </p:sp>
      <p:sp>
        <p:nvSpPr>
          <p:cNvPr id="14" name="Text 12"/>
          <p:cNvSpPr/>
          <p:nvPr/>
        </p:nvSpPr>
        <p:spPr>
          <a:xfrm>
            <a:off x="274320" y="3502152"/>
            <a:ext cx="8595360" cy="347472"/>
          </a:xfrm>
          <a:prstGeom prst="rect">
            <a:avLst/>
          </a:prstGeom>
          <a:noFill/>
          <a:ln/>
        </p:spPr>
        <p:txBody>
          <a:bodyPr wrap="square" rtlCol="0" anchor="ctr"/>
          <a:lstStyle/>
          <a:p>
            <a:pPr marL="0" indent="0" algn="ctr">
              <a:buNone/>
            </a:pPr>
            <a:r>
              <a:rPr lang="en-US" sz="1300" b="1" dirty="0">
                <a:solidFill>
                  <a:srgbClr val="FFFFFF"/>
                </a:solidFill>
              </a:rPr>
              <a:t>Why Hand Detection Was Too Hard</a:t>
            </a:r>
            <a:endParaRPr lang="en-US" sz="1300" dirty="0"/>
          </a:p>
        </p:txBody>
      </p:sp>
      <p:sp>
        <p:nvSpPr>
          <p:cNvPr id="15" name="Text 13"/>
          <p:cNvSpPr/>
          <p:nvPr/>
        </p:nvSpPr>
        <p:spPr>
          <a:xfrm>
            <a:off x="411480" y="3913632"/>
            <a:ext cx="8321040" cy="100584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Low camera resolution and noisy image quality, especially in dim light</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Model must be tiny — not enough capacity for fine-grained detection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Hands, keyboard, mouse, and paper visually overlap in the frame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B4A"/>
          </a:solidFill>
          <a:ln w="12700">
            <a:solidFill>
              <a:srgbClr val="1A2B4A"/>
            </a:solidFill>
            <a:prstDash val="solid"/>
          </a:ln>
        </p:spPr>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Training Results &amp; Demo</a:t>
            </a:r>
            <a:endParaRPr lang="en-US" sz="2800" dirty="0"/>
          </a:p>
        </p:txBody>
      </p:sp>
      <p:sp>
        <p:nvSpPr>
          <p:cNvPr id="4" name="Shape 2"/>
          <p:cNvSpPr/>
          <p:nvPr/>
        </p:nvSpPr>
        <p:spPr>
          <a:xfrm>
            <a:off x="274320" y="914400"/>
            <a:ext cx="2011680" cy="1828800"/>
          </a:xfrm>
          <a:prstGeom prst="rect">
            <a:avLst/>
          </a:prstGeom>
          <a:solidFill>
            <a:srgbClr val="1A2B4A"/>
          </a:solidFill>
          <a:ln w="12700">
            <a:solidFill>
              <a:srgbClr val="1A2B4A"/>
            </a:solidFill>
            <a:prstDash val="solid"/>
          </a:ln>
        </p:spPr>
      </p:sp>
      <p:sp>
        <p:nvSpPr>
          <p:cNvPr id="5" name="Text 3"/>
          <p:cNvSpPr/>
          <p:nvPr/>
        </p:nvSpPr>
        <p:spPr>
          <a:xfrm>
            <a:off x="274320" y="914400"/>
            <a:ext cx="2011680" cy="1828800"/>
          </a:xfrm>
          <a:prstGeom prst="rect">
            <a:avLst/>
          </a:prstGeom>
          <a:noFill/>
          <a:ln/>
        </p:spPr>
        <p:txBody>
          <a:bodyPr wrap="square" rtlCol="0" anchor="ctr"/>
          <a:lstStyle/>
          <a:p>
            <a:pPr marL="0" indent="0" algn="ctr">
              <a:buNone/>
            </a:pPr>
            <a:r>
              <a:rPr lang="en-US" sz="3400" b="1" dirty="0">
                <a:solidFill>
                  <a:srgbClr val="FFFFFF"/>
                </a:solidFill>
              </a:rPr>
              <a:t>93.8%</a:t>
            </a:r>
            <a:endParaRPr lang="en-US" sz="3400" dirty="0"/>
          </a:p>
          <a:p>
            <a:pPr marL="0" indent="0" algn="ctr">
              <a:buNone/>
            </a:pPr>
            <a:r>
              <a:rPr lang="en-US" sz="1300" dirty="0">
                <a:solidFill>
                  <a:srgbClr val="94A3B8"/>
                </a:solidFill>
              </a:rPr>
              <a:t>Accuracy</a:t>
            </a:r>
            <a:endParaRPr lang="en-US" sz="3400" dirty="0"/>
          </a:p>
        </p:txBody>
      </p:sp>
      <p:sp>
        <p:nvSpPr>
          <p:cNvPr id="6" name="Shape 4"/>
          <p:cNvSpPr/>
          <p:nvPr/>
        </p:nvSpPr>
        <p:spPr>
          <a:xfrm>
            <a:off x="2514600" y="914400"/>
            <a:ext cx="1463040" cy="804672"/>
          </a:xfrm>
          <a:prstGeom prst="rect">
            <a:avLst/>
          </a:prstGeom>
          <a:solidFill>
            <a:srgbClr val="16A34A">
              <a:alpha val="85000"/>
            </a:srgbClr>
          </a:solidFill>
          <a:ln w="12700">
            <a:solidFill>
              <a:srgbClr val="16A34A"/>
            </a:solidFill>
            <a:prstDash val="solid"/>
          </a:ln>
        </p:spPr>
      </p:sp>
      <p:sp>
        <p:nvSpPr>
          <p:cNvPr id="7" name="Text 5"/>
          <p:cNvSpPr/>
          <p:nvPr/>
        </p:nvSpPr>
        <p:spPr>
          <a:xfrm>
            <a:off x="2514600" y="914400"/>
            <a:ext cx="1463040" cy="804672"/>
          </a:xfrm>
          <a:prstGeom prst="rect">
            <a:avLst/>
          </a:prstGeom>
          <a:noFill/>
          <a:ln/>
        </p:spPr>
        <p:txBody>
          <a:bodyPr wrap="square" rtlCol="0" anchor="ctr"/>
          <a:lstStyle/>
          <a:p>
            <a:pPr marL="0" indent="0" algn="ctr">
              <a:buNone/>
            </a:pPr>
            <a:r>
              <a:rPr lang="en-US" sz="1300" b="1" dirty="0">
                <a:solidFill>
                  <a:srgbClr val="FFFFFF"/>
                </a:solidFill>
              </a:rPr>
              <a:t>computer</a:t>
            </a:r>
            <a:endParaRPr lang="en-US" sz="1300" dirty="0"/>
          </a:p>
          <a:p>
            <a:pPr marL="0" indent="0" algn="ctr">
              <a:buNone/>
            </a:pPr>
            <a:r>
              <a:rPr lang="en-US" sz="1600" b="1" dirty="0">
                <a:solidFill>
                  <a:srgbClr val="FFFFFF"/>
                </a:solidFill>
              </a:rPr>
              <a:t>F1 1.00</a:t>
            </a:r>
            <a:endParaRPr lang="en-US" sz="1300" dirty="0"/>
          </a:p>
        </p:txBody>
      </p:sp>
      <p:sp>
        <p:nvSpPr>
          <p:cNvPr id="8" name="Shape 6"/>
          <p:cNvSpPr/>
          <p:nvPr/>
        </p:nvSpPr>
        <p:spPr>
          <a:xfrm>
            <a:off x="4050792" y="914400"/>
            <a:ext cx="1463040" cy="804672"/>
          </a:xfrm>
          <a:prstGeom prst="rect">
            <a:avLst/>
          </a:prstGeom>
          <a:solidFill>
            <a:srgbClr val="16A34A">
              <a:alpha val="85000"/>
            </a:srgbClr>
          </a:solidFill>
          <a:ln w="12700">
            <a:solidFill>
              <a:srgbClr val="16A34A"/>
            </a:solidFill>
            <a:prstDash val="solid"/>
          </a:ln>
        </p:spPr>
      </p:sp>
      <p:sp>
        <p:nvSpPr>
          <p:cNvPr id="9" name="Text 7"/>
          <p:cNvSpPr/>
          <p:nvPr/>
        </p:nvSpPr>
        <p:spPr>
          <a:xfrm>
            <a:off x="4050792" y="914400"/>
            <a:ext cx="1463040" cy="804672"/>
          </a:xfrm>
          <a:prstGeom prst="rect">
            <a:avLst/>
          </a:prstGeom>
          <a:noFill/>
          <a:ln/>
        </p:spPr>
        <p:txBody>
          <a:bodyPr wrap="square" rtlCol="0" anchor="ctr"/>
          <a:lstStyle/>
          <a:p>
            <a:pPr marL="0" indent="0" algn="ctr">
              <a:buNone/>
            </a:pPr>
            <a:r>
              <a:rPr lang="en-US" sz="1300" b="1" dirty="0">
                <a:solidFill>
                  <a:srgbClr val="FFFFFF"/>
                </a:solidFill>
              </a:rPr>
              <a:t>empty</a:t>
            </a:r>
            <a:endParaRPr lang="en-US" sz="1300" dirty="0"/>
          </a:p>
          <a:p>
            <a:pPr marL="0" indent="0" algn="ctr">
              <a:buNone/>
            </a:pPr>
            <a:r>
              <a:rPr lang="en-US" sz="1600" b="1" dirty="0">
                <a:solidFill>
                  <a:srgbClr val="FFFFFF"/>
                </a:solidFill>
              </a:rPr>
              <a:t>F1 1.00</a:t>
            </a:r>
            <a:endParaRPr lang="en-US" sz="1300" dirty="0"/>
          </a:p>
        </p:txBody>
      </p:sp>
      <p:sp>
        <p:nvSpPr>
          <p:cNvPr id="10" name="Shape 8"/>
          <p:cNvSpPr/>
          <p:nvPr/>
        </p:nvSpPr>
        <p:spPr>
          <a:xfrm>
            <a:off x="5586984" y="914400"/>
            <a:ext cx="1463040" cy="804672"/>
          </a:xfrm>
          <a:prstGeom prst="rect">
            <a:avLst/>
          </a:prstGeom>
          <a:solidFill>
            <a:srgbClr val="CA8A04">
              <a:alpha val="85000"/>
            </a:srgbClr>
          </a:solidFill>
          <a:ln w="12700">
            <a:solidFill>
              <a:srgbClr val="CA8A04"/>
            </a:solidFill>
            <a:prstDash val="solid"/>
          </a:ln>
        </p:spPr>
      </p:sp>
      <p:sp>
        <p:nvSpPr>
          <p:cNvPr id="11" name="Text 9"/>
          <p:cNvSpPr/>
          <p:nvPr/>
        </p:nvSpPr>
        <p:spPr>
          <a:xfrm>
            <a:off x="5586984" y="914400"/>
            <a:ext cx="1463040" cy="804672"/>
          </a:xfrm>
          <a:prstGeom prst="rect">
            <a:avLst/>
          </a:prstGeom>
          <a:noFill/>
          <a:ln/>
        </p:spPr>
        <p:txBody>
          <a:bodyPr wrap="square" rtlCol="0" anchor="ctr"/>
          <a:lstStyle/>
          <a:p>
            <a:pPr marL="0" indent="0" algn="ctr">
              <a:buNone/>
            </a:pPr>
            <a:r>
              <a:rPr lang="en-US" sz="1300" b="1" dirty="0">
                <a:solidFill>
                  <a:srgbClr val="FFFFFF"/>
                </a:solidFill>
              </a:rPr>
              <a:t>ipad</a:t>
            </a:r>
            <a:endParaRPr lang="en-US" sz="1300" dirty="0"/>
          </a:p>
          <a:p>
            <a:pPr marL="0" indent="0" algn="ctr">
              <a:buNone/>
            </a:pPr>
            <a:r>
              <a:rPr lang="en-US" sz="1600" b="1" dirty="0">
                <a:solidFill>
                  <a:srgbClr val="FFFFFF"/>
                </a:solidFill>
              </a:rPr>
              <a:t>F1 0.90</a:t>
            </a:r>
            <a:endParaRPr lang="en-US" sz="1300" dirty="0"/>
          </a:p>
        </p:txBody>
      </p:sp>
      <p:sp>
        <p:nvSpPr>
          <p:cNvPr id="12" name="Shape 10"/>
          <p:cNvSpPr/>
          <p:nvPr/>
        </p:nvSpPr>
        <p:spPr>
          <a:xfrm>
            <a:off x="7123176" y="914400"/>
            <a:ext cx="1463040" cy="804672"/>
          </a:xfrm>
          <a:prstGeom prst="rect">
            <a:avLst/>
          </a:prstGeom>
          <a:solidFill>
            <a:srgbClr val="CA8A04">
              <a:alpha val="85000"/>
            </a:srgbClr>
          </a:solidFill>
          <a:ln w="12700">
            <a:solidFill>
              <a:srgbClr val="CA8A04"/>
            </a:solidFill>
            <a:prstDash val="solid"/>
          </a:ln>
        </p:spPr>
      </p:sp>
      <p:sp>
        <p:nvSpPr>
          <p:cNvPr id="13" name="Text 11"/>
          <p:cNvSpPr/>
          <p:nvPr/>
        </p:nvSpPr>
        <p:spPr>
          <a:xfrm>
            <a:off x="7123176" y="914400"/>
            <a:ext cx="1463040" cy="804672"/>
          </a:xfrm>
          <a:prstGeom prst="rect">
            <a:avLst/>
          </a:prstGeom>
          <a:noFill/>
          <a:ln/>
        </p:spPr>
        <p:txBody>
          <a:bodyPr wrap="square" rtlCol="0" anchor="ctr"/>
          <a:lstStyle/>
          <a:p>
            <a:pPr marL="0" indent="0" algn="ctr">
              <a:buNone/>
            </a:pPr>
            <a:r>
              <a:rPr lang="en-US" sz="1300" b="1" dirty="0">
                <a:solidFill>
                  <a:srgbClr val="FFFFFF"/>
                </a:solidFill>
              </a:rPr>
              <a:t>phone</a:t>
            </a:r>
            <a:endParaRPr lang="en-US" sz="1300" dirty="0"/>
          </a:p>
          <a:p>
            <a:pPr marL="0" indent="0" algn="ctr">
              <a:buNone/>
            </a:pPr>
            <a:r>
              <a:rPr lang="en-US" sz="1600" b="1" dirty="0">
                <a:solidFill>
                  <a:srgbClr val="FFFFFF"/>
                </a:solidFill>
              </a:rPr>
              <a:t>F1 0.89</a:t>
            </a:r>
            <a:endParaRPr lang="en-US" sz="1300" dirty="0"/>
          </a:p>
        </p:txBody>
      </p:sp>
      <p:sp>
        <p:nvSpPr>
          <p:cNvPr id="14" name="Shape 12"/>
          <p:cNvSpPr/>
          <p:nvPr/>
        </p:nvSpPr>
        <p:spPr>
          <a:xfrm>
            <a:off x="2514600" y="1810512"/>
            <a:ext cx="6309360" cy="932688"/>
          </a:xfrm>
          <a:prstGeom prst="rect">
            <a:avLst/>
          </a:prstGeom>
          <a:solidFill>
            <a:srgbClr val="FFFFFF"/>
          </a:solidFill>
          <a:ln w="12700">
            <a:solidFill>
              <a:srgbClr val="E2E8F0"/>
            </a:solidFill>
            <a:prstDash val="solid"/>
          </a:ln>
        </p:spPr>
      </p:sp>
      <p:sp>
        <p:nvSpPr>
          <p:cNvPr id="15" name="Text 13"/>
          <p:cNvSpPr/>
          <p:nvPr/>
        </p:nvSpPr>
        <p:spPr>
          <a:xfrm>
            <a:off x="2697480" y="1847088"/>
            <a:ext cx="5943600" cy="859536"/>
          </a:xfrm>
          <a:prstGeom prst="rect">
            <a:avLst/>
          </a:prstGeom>
          <a:noFill/>
          <a:ln/>
        </p:spPr>
        <p:txBody>
          <a:bodyPr wrap="square" rtlCol="0" anchor="ctr"/>
          <a:lstStyle/>
          <a:p>
            <a:pPr marL="0" indent="0">
              <a:buNone/>
            </a:pPr>
            <a:r>
              <a:rPr lang="en-US" sz="1300" b="1" dirty="0">
                <a:solidFill>
                  <a:srgbClr val="92400E"/>
                </a:solidFill>
              </a:rPr>
              <a:t>ipad → phone confusion: 18.2%</a:t>
            </a:r>
            <a:endParaRPr lang="en-US" sz="1300" dirty="0"/>
          </a:p>
          <a:p>
            <a:pPr marL="0" indent="0">
              <a:buNone/>
            </a:pPr>
            <a:r>
              <a:rPr lang="en-US" sz="1250" dirty="0">
                <a:solidFill>
                  <a:srgbClr val="1E293B"/>
                </a:solidFill>
              </a:rPr>
              <a:t>Both are small devices on the desk — visually similar at 96×96 resolution. All other classes: 100% correct.</a:t>
            </a:r>
            <a:endParaRPr lang="en-US" sz="1300" dirty="0"/>
          </a:p>
        </p:txBody>
      </p:sp>
      <p:sp>
        <p:nvSpPr>
          <p:cNvPr id="16" name="Shape 14"/>
          <p:cNvSpPr/>
          <p:nvPr/>
        </p:nvSpPr>
        <p:spPr>
          <a:xfrm>
            <a:off x="502920" y="2816352"/>
            <a:ext cx="1965960" cy="640080"/>
          </a:xfrm>
          <a:prstGeom prst="rect">
            <a:avLst/>
          </a:prstGeom>
          <a:solidFill>
            <a:srgbClr val="1A2B4A">
              <a:alpha val="90000"/>
            </a:srgbClr>
          </a:solidFill>
          <a:ln w="12700">
            <a:solidFill>
              <a:srgbClr val="1A2B4A"/>
            </a:solidFill>
            <a:prstDash val="solid"/>
          </a:ln>
        </p:spPr>
      </p:sp>
      <p:sp>
        <p:nvSpPr>
          <p:cNvPr id="17" name="Text 15"/>
          <p:cNvSpPr/>
          <p:nvPr/>
        </p:nvSpPr>
        <p:spPr>
          <a:xfrm>
            <a:off x="502920" y="2816352"/>
            <a:ext cx="1965960" cy="640080"/>
          </a:xfrm>
          <a:prstGeom prst="rect">
            <a:avLst/>
          </a:prstGeom>
          <a:noFill/>
          <a:ln/>
        </p:spPr>
        <p:txBody>
          <a:bodyPr wrap="square" rtlCol="0" anchor="ctr"/>
          <a:lstStyle/>
          <a:p>
            <a:pPr marL="0" indent="0" algn="ctr">
              <a:buNone/>
            </a:pPr>
            <a:r>
              <a:rPr lang="en-US" sz="1100" dirty="0">
                <a:solidFill>
                  <a:srgbClr val="94A3B8"/>
                </a:solidFill>
              </a:rPr>
              <a:t>ROC AUC</a:t>
            </a:r>
            <a:endParaRPr lang="en-US" sz="1100" dirty="0"/>
          </a:p>
          <a:p>
            <a:pPr marL="0" indent="0" algn="ctr">
              <a:buNone/>
            </a:pPr>
            <a:r>
              <a:rPr lang="en-US" sz="1800" b="1" dirty="0">
                <a:solidFill>
                  <a:srgbClr val="FFFFFF"/>
                </a:solidFill>
              </a:rPr>
              <a:t>1.00</a:t>
            </a:r>
            <a:endParaRPr lang="en-US" sz="1100" dirty="0"/>
          </a:p>
        </p:txBody>
      </p:sp>
      <p:sp>
        <p:nvSpPr>
          <p:cNvPr id="18" name="Shape 16"/>
          <p:cNvSpPr/>
          <p:nvPr/>
        </p:nvSpPr>
        <p:spPr>
          <a:xfrm>
            <a:off x="2560320" y="2816352"/>
            <a:ext cx="1965960" cy="640080"/>
          </a:xfrm>
          <a:prstGeom prst="rect">
            <a:avLst/>
          </a:prstGeom>
          <a:solidFill>
            <a:srgbClr val="1A2B4A">
              <a:alpha val="90000"/>
            </a:srgbClr>
          </a:solidFill>
          <a:ln w="12700">
            <a:solidFill>
              <a:srgbClr val="1A2B4A"/>
            </a:solidFill>
            <a:prstDash val="solid"/>
          </a:ln>
        </p:spPr>
      </p:sp>
      <p:sp>
        <p:nvSpPr>
          <p:cNvPr id="19" name="Text 17"/>
          <p:cNvSpPr/>
          <p:nvPr/>
        </p:nvSpPr>
        <p:spPr>
          <a:xfrm>
            <a:off x="2560320" y="2816352"/>
            <a:ext cx="1965960" cy="640080"/>
          </a:xfrm>
          <a:prstGeom prst="rect">
            <a:avLst/>
          </a:prstGeom>
          <a:noFill/>
          <a:ln/>
        </p:spPr>
        <p:txBody>
          <a:bodyPr wrap="square" rtlCol="0" anchor="ctr"/>
          <a:lstStyle/>
          <a:p>
            <a:pPr marL="0" indent="0" algn="ctr">
              <a:buNone/>
            </a:pPr>
            <a:r>
              <a:rPr lang="en-US" sz="1100" dirty="0">
                <a:solidFill>
                  <a:srgbClr val="94A3B8"/>
                </a:solidFill>
              </a:rPr>
              <a:t>Precision</a:t>
            </a:r>
            <a:endParaRPr lang="en-US" sz="1100" dirty="0"/>
          </a:p>
          <a:p>
            <a:pPr marL="0" indent="0" algn="ctr">
              <a:buNone/>
            </a:pPr>
            <a:r>
              <a:rPr lang="en-US" sz="1800" b="1" dirty="0">
                <a:solidFill>
                  <a:srgbClr val="FFFFFF"/>
                </a:solidFill>
              </a:rPr>
              <a:t>0.95</a:t>
            </a:r>
            <a:endParaRPr lang="en-US" sz="1100" dirty="0"/>
          </a:p>
        </p:txBody>
      </p:sp>
      <p:sp>
        <p:nvSpPr>
          <p:cNvPr id="20" name="Shape 18"/>
          <p:cNvSpPr/>
          <p:nvPr/>
        </p:nvSpPr>
        <p:spPr>
          <a:xfrm>
            <a:off x="4617720" y="2816352"/>
            <a:ext cx="1965960" cy="640080"/>
          </a:xfrm>
          <a:prstGeom prst="rect">
            <a:avLst/>
          </a:prstGeom>
          <a:solidFill>
            <a:srgbClr val="1A2B4A">
              <a:alpha val="90000"/>
            </a:srgbClr>
          </a:solidFill>
          <a:ln w="12700">
            <a:solidFill>
              <a:srgbClr val="1A2B4A"/>
            </a:solidFill>
            <a:prstDash val="solid"/>
          </a:ln>
        </p:spPr>
      </p:sp>
      <p:sp>
        <p:nvSpPr>
          <p:cNvPr id="21" name="Text 19"/>
          <p:cNvSpPr/>
          <p:nvPr/>
        </p:nvSpPr>
        <p:spPr>
          <a:xfrm>
            <a:off x="4617720" y="2816352"/>
            <a:ext cx="1965960" cy="640080"/>
          </a:xfrm>
          <a:prstGeom prst="rect">
            <a:avLst/>
          </a:prstGeom>
          <a:noFill/>
          <a:ln/>
        </p:spPr>
        <p:txBody>
          <a:bodyPr wrap="square" rtlCol="0" anchor="ctr"/>
          <a:lstStyle/>
          <a:p>
            <a:pPr marL="0" indent="0" algn="ctr">
              <a:buNone/>
            </a:pPr>
            <a:r>
              <a:rPr lang="en-US" sz="1100" dirty="0">
                <a:solidFill>
                  <a:srgbClr val="94A3B8"/>
                </a:solidFill>
              </a:rPr>
              <a:t>Recall</a:t>
            </a:r>
            <a:endParaRPr lang="en-US" sz="1100" dirty="0"/>
          </a:p>
          <a:p>
            <a:pPr marL="0" indent="0" algn="ctr">
              <a:buNone/>
            </a:pPr>
            <a:r>
              <a:rPr lang="en-US" sz="1800" b="1" dirty="0">
                <a:solidFill>
                  <a:srgbClr val="FFFFFF"/>
                </a:solidFill>
              </a:rPr>
              <a:t>0.94</a:t>
            </a:r>
            <a:endParaRPr lang="en-US" sz="1100" dirty="0"/>
          </a:p>
        </p:txBody>
      </p:sp>
      <p:sp>
        <p:nvSpPr>
          <p:cNvPr id="22" name="Shape 20"/>
          <p:cNvSpPr/>
          <p:nvPr/>
        </p:nvSpPr>
        <p:spPr>
          <a:xfrm>
            <a:off x="6675120" y="2816352"/>
            <a:ext cx="1965960" cy="640080"/>
          </a:xfrm>
          <a:prstGeom prst="rect">
            <a:avLst/>
          </a:prstGeom>
          <a:solidFill>
            <a:srgbClr val="1A2B4A">
              <a:alpha val="90000"/>
            </a:srgbClr>
          </a:solidFill>
          <a:ln w="12700">
            <a:solidFill>
              <a:srgbClr val="1A2B4A"/>
            </a:solidFill>
            <a:prstDash val="solid"/>
          </a:ln>
        </p:spPr>
      </p:sp>
      <p:sp>
        <p:nvSpPr>
          <p:cNvPr id="23" name="Text 21"/>
          <p:cNvSpPr/>
          <p:nvPr/>
        </p:nvSpPr>
        <p:spPr>
          <a:xfrm>
            <a:off x="6675120" y="2816352"/>
            <a:ext cx="1965960" cy="640080"/>
          </a:xfrm>
          <a:prstGeom prst="rect">
            <a:avLst/>
          </a:prstGeom>
          <a:noFill/>
          <a:ln/>
        </p:spPr>
        <p:txBody>
          <a:bodyPr wrap="square" rtlCol="0" anchor="ctr"/>
          <a:lstStyle/>
          <a:p>
            <a:pPr marL="0" indent="0" algn="ctr">
              <a:buNone/>
            </a:pPr>
            <a:r>
              <a:rPr lang="en-US" sz="1100" dirty="0">
                <a:solidFill>
                  <a:srgbClr val="94A3B8"/>
                </a:solidFill>
              </a:rPr>
              <a:t>F1 (avg)</a:t>
            </a:r>
            <a:endParaRPr lang="en-US" sz="1100" dirty="0"/>
          </a:p>
          <a:p>
            <a:pPr marL="0" indent="0" algn="ctr">
              <a:buNone/>
            </a:pPr>
            <a:r>
              <a:rPr lang="en-US" sz="1800" b="1" dirty="0">
                <a:solidFill>
                  <a:srgbClr val="FFFFFF"/>
                </a:solidFill>
              </a:rPr>
              <a:t>0.94</a:t>
            </a:r>
            <a:endParaRPr lang="en-US" sz="1100" dirty="0"/>
          </a:p>
        </p:txBody>
      </p:sp>
      <p:sp>
        <p:nvSpPr>
          <p:cNvPr id="24" name="Shape 22"/>
          <p:cNvSpPr/>
          <p:nvPr/>
        </p:nvSpPr>
        <p:spPr>
          <a:xfrm>
            <a:off x="274320" y="3566160"/>
            <a:ext cx="8595360" cy="347472"/>
          </a:xfrm>
          <a:prstGeom prst="rect">
            <a:avLst/>
          </a:prstGeom>
          <a:solidFill>
            <a:srgbClr val="0D9488"/>
          </a:solidFill>
          <a:ln w="12700">
            <a:solidFill>
              <a:srgbClr val="0D9488"/>
            </a:solidFill>
            <a:prstDash val="solid"/>
          </a:ln>
        </p:spPr>
      </p:sp>
      <p:sp>
        <p:nvSpPr>
          <p:cNvPr id="25" name="Text 23"/>
          <p:cNvSpPr/>
          <p:nvPr/>
        </p:nvSpPr>
        <p:spPr>
          <a:xfrm>
            <a:off x="274320" y="3566160"/>
            <a:ext cx="8595360" cy="347472"/>
          </a:xfrm>
          <a:prstGeom prst="rect">
            <a:avLst/>
          </a:prstGeom>
          <a:noFill/>
          <a:ln/>
        </p:spPr>
        <p:txBody>
          <a:bodyPr wrap="square" rtlCol="0" anchor="ctr"/>
          <a:lstStyle/>
          <a:p>
            <a:pPr marL="0" indent="0" algn="ctr">
              <a:buNone/>
            </a:pPr>
            <a:r>
              <a:rPr lang="en-US" sz="1300" b="1" dirty="0">
                <a:solidFill>
                  <a:srgbClr val="FFFFFF"/>
                </a:solidFill>
              </a:rPr>
              <a:t>What the Demo Shows</a:t>
            </a:r>
            <a:endParaRPr lang="en-US" sz="1300" dirty="0"/>
          </a:p>
        </p:txBody>
      </p:sp>
      <p:sp>
        <p:nvSpPr>
          <p:cNvPr id="26" name="Text 24"/>
          <p:cNvSpPr/>
          <p:nvPr/>
        </p:nvSpPr>
        <p:spPr>
          <a:xfrm>
            <a:off x="411480" y="3977640"/>
            <a:ext cx="8321040" cy="91440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Live inference running on XIAO ESP32S3 — no laptop in the loop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Swap desk scenes — watch LED mode switch automatically in real time</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Serial output shows the predicted class and confidence each frame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1378</Words>
  <Application>Microsoft Office PowerPoint</Application>
  <PresentationFormat>全屏显示(16:9)</PresentationFormat>
  <Paragraphs>89</Paragraphs>
  <Slides>4</Slides>
  <Notes>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Arial</vt:lpstr>
      <vt:lpstr>Calibri</vt:lpstr>
      <vt:lpstr>Office Theme</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Desk Lighting System - Demo</dc:title>
  <dc:subject>PptxGenJS Presentation</dc:subject>
  <dc:creator>PptxGenJS</dc:creator>
  <cp:lastModifiedBy>奕安 范</cp:lastModifiedBy>
  <cp:revision>1</cp:revision>
  <dcterms:created xsi:type="dcterms:W3CDTF">2026-05-04T00:12:21Z</dcterms:created>
  <dcterms:modified xsi:type="dcterms:W3CDTF">2026-05-04T02:13:41Z</dcterms:modified>
</cp:coreProperties>
</file>